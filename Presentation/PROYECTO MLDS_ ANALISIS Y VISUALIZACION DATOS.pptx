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Bree Serif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EA7673-DE2A-405D-BC26-2F4B7DBC4A23}">
  <a:tblStyle styleId="{5DEA7673-DE2A-405D-BC26-2F4B7DBC4A2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5.xml"/><Relationship Id="rId22" Type="http://schemas.openxmlformats.org/officeDocument/2006/relationships/font" Target="fonts/Lato-boldItalic.fntdata"/><Relationship Id="rId10" Type="http://schemas.openxmlformats.org/officeDocument/2006/relationships/slide" Target="slides/slide4.xml"/><Relationship Id="rId21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BreeSerif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aleway-regular.fntdata"/><Relationship Id="rId14" Type="http://schemas.openxmlformats.org/officeDocument/2006/relationships/slide" Target="slides/slide8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640f789b6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640f789b6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640f789b6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640f789b6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En </a:t>
            </a:r>
            <a:r>
              <a:rPr b="1" lang="es-419">
                <a:solidFill>
                  <a:schemeClr val="dk1"/>
                </a:solidFill>
              </a:rPr>
              <a:t>Colombia</a:t>
            </a:r>
            <a:r>
              <a:rPr lang="es-419">
                <a:solidFill>
                  <a:schemeClr val="dk1"/>
                </a:solidFill>
              </a:rPr>
              <a:t>, las ECV históricamente ocupan los primeros lugares de mortalidad, y en </a:t>
            </a:r>
            <a:r>
              <a:rPr b="1" lang="es-419">
                <a:solidFill>
                  <a:schemeClr val="dk1"/>
                </a:solidFill>
              </a:rPr>
              <a:t>Bogotá</a:t>
            </a:r>
            <a:r>
              <a:rPr lang="es-419">
                <a:solidFill>
                  <a:schemeClr val="dk1"/>
                </a:solidFill>
              </a:rPr>
              <a:t> son un eje prioritario de la política pública, con indicadores disponibles en el Observatorio de Salud – </a:t>
            </a:r>
            <a:r>
              <a:rPr b="1" lang="es-419">
                <a:solidFill>
                  <a:schemeClr val="dk1"/>
                </a:solidFill>
              </a:rPr>
              <a:t>SaluData</a:t>
            </a:r>
            <a:r>
              <a:rPr lang="es-419">
                <a:solidFill>
                  <a:schemeClr val="dk1"/>
                </a:solidFill>
              </a:rPr>
              <a:t> [Ministerio de Salud; SaluData, 2024].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640f789b6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640f789b6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640f789b6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640f789b6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640f789b6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640f789b6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65aff377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65aff377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65aff377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65aff377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640f789b6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640f789b6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-419">
                <a:solidFill>
                  <a:schemeClr val="dk1"/>
                </a:solidFill>
              </a:rPr>
              <a:t>Las enfermedades isquémicas del corazón son la principal causa de muerte en Bogotá, con un pico anómalo en 2020–2021 y un descenso posterior. Las localidades de Kennedy, Suba, Ciudad Bolívar y Rafael Uribe Uribe concentran la mayor carga, lo que refleja una desigualdad territorial significativa.</a:t>
            </a:r>
            <a:br>
              <a:rPr lang="es-419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-419">
                <a:solidFill>
                  <a:schemeClr val="dk1"/>
                </a:solidFill>
              </a:rPr>
              <a:t>La edad al fallecer se concentra entre 55 y 70 años, con casos prematuros (&lt;40 años) de interés epidemiológico. Los registros se encuentran entre 2015–2025, aunque 2025 muestra un menor número de casos por consolidación de datos.</a:t>
            </a:r>
            <a:br>
              <a:rPr lang="es-419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-419">
                <a:solidFill>
                  <a:schemeClr val="dk1"/>
                </a:solidFill>
              </a:rPr>
              <a:t>La detección y eliminación de duplicados aseguró que cada fila representara un caso único, evitando sesgos en frecuencias y tasas. No se encontraron valores nulos relevantes en variables críticas, y se conservaron valores extremos de edad por su relevancia epidemiológica.</a:t>
            </a:r>
            <a:br>
              <a:rPr lang="es-419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-419">
                <a:solidFill>
                  <a:schemeClr val="dk1"/>
                </a:solidFill>
              </a:rPr>
              <a:t>El uso de estadística descriptiva e inferencial permitió evidenciar desigualdades por sexo, edad y localidad, con predominio de las causas isquémicas sobre las cerebrovasculares e hipertensivas. Se usaron gráficos y regresiones, que mostraron tendencias diferenciales entre localidades y sexos, aunque los factores explican solo parte de la variabilidad en la edad al fallecer.</a:t>
            </a:r>
            <a:br>
              <a:rPr lang="es-419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-419">
                <a:solidFill>
                  <a:schemeClr val="dk1"/>
                </a:solidFill>
              </a:rPr>
              <a:t>Finalmente, el proyecto cumple su objetivo de entregar a la Secretaría Distrital de Salud y a las subredes un insumo operativo y reproducible para la toma de decisiones. Esto permite priorizar territorios con exceso de riesgo, orientar acciones como el control de hipertensión o la ruta de ictus, estandarizar análisis mediante reglas de limpieza y clasificación CIE-10, facilitar la rendición de cuentas con tablas y visualizaciones listas para informes, y optimizar la asignación de recursos hacia intervenciones con mayor impacto en salud pública.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60191" l="0" r="4598" t="0"/>
          <a:stretch/>
        </p:blipFill>
        <p:spPr>
          <a:xfrm>
            <a:off x="0" y="0"/>
            <a:ext cx="9144000" cy="84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764675" y="938513"/>
            <a:ext cx="5537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solidFill>
                  <a:schemeClr val="dk1"/>
                </a:solidFill>
              </a:rPr>
              <a:t>Proyecto MLDS: </a:t>
            </a:r>
            <a:r>
              <a:rPr b="1" lang="es-419" sz="3300">
                <a:solidFill>
                  <a:schemeClr val="dk1"/>
                </a:solidFill>
              </a:rPr>
              <a:t>Análisis y visualización de datos </a:t>
            </a:r>
            <a:endParaRPr b="1" sz="3300">
              <a:solidFill>
                <a:schemeClr val="dk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670450" y="2817450"/>
            <a:ext cx="55377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Mariana Aldana 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Steven Alejandro Martinez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Andres Felipe Nieto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Universidad Nacional de Colombia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Sede Bogotá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2025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662150" y="568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ENTENDIMIENTO DEL NEGOCIO</a:t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52400"/>
            <a:ext cx="1928788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 rotWithShape="1">
          <a:blip r:embed="rId4">
            <a:alphaModFix/>
          </a:blip>
          <a:srcRect b="0" l="10778" r="0" t="0"/>
          <a:stretch/>
        </p:blipFill>
        <p:spPr>
          <a:xfrm>
            <a:off x="428625" y="1451050"/>
            <a:ext cx="2372726" cy="18808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2408175" y="2761785"/>
            <a:ext cx="1812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50" lIns="66050" spcFirstLastPara="1" rIns="66050" wrap="square" tIns="6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66">
                <a:highlight>
                  <a:schemeClr val="lt1"/>
                </a:highlight>
                <a:latin typeface="Bree Serif"/>
                <a:ea typeface="Bree Serif"/>
                <a:cs typeface="Bree Serif"/>
                <a:sym typeface="Bree Serif"/>
              </a:rPr>
              <a:t>cerebrovasculares (I60–I69)</a:t>
            </a:r>
            <a:endParaRPr sz="1239">
              <a:highlight>
                <a:schemeClr val="lt1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642223" y="2160942"/>
            <a:ext cx="1812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50" lIns="66050" spcFirstLastPara="1" rIns="66050" wrap="square" tIns="6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66">
                <a:highlight>
                  <a:schemeClr val="lt1"/>
                </a:highlight>
                <a:latin typeface="Bree Serif"/>
                <a:ea typeface="Bree Serif"/>
                <a:cs typeface="Bree Serif"/>
                <a:sym typeface="Bree Serif"/>
              </a:rPr>
              <a:t>isquémicas (I20–I25)</a:t>
            </a:r>
            <a:endParaRPr sz="1239">
              <a:highlight>
                <a:schemeClr val="lt1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363390" y="1621491"/>
            <a:ext cx="1812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50" lIns="66050" spcFirstLastPara="1" rIns="66050" wrap="square" tIns="6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66">
                <a:highlight>
                  <a:schemeClr val="lt1"/>
                </a:highlight>
                <a:latin typeface="Bree Serif"/>
                <a:ea typeface="Bree Serif"/>
                <a:cs typeface="Bree Serif"/>
                <a:sym typeface="Bree Serif"/>
              </a:rPr>
              <a:t>Hipertensiva (I10–I15)</a:t>
            </a:r>
            <a:endParaRPr sz="1239">
              <a:highlight>
                <a:schemeClr val="lt1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0362" y="1621501"/>
            <a:ext cx="1609725" cy="206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26713" r="0" t="9584"/>
          <a:stretch/>
        </p:blipFill>
        <p:spPr>
          <a:xfrm>
            <a:off x="5614474" y="3748225"/>
            <a:ext cx="1928800" cy="12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3445850" y="3218788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0B5394"/>
                </a:solidFill>
                <a:highlight>
                  <a:srgbClr val="FFFFFF"/>
                </a:highlight>
                <a:latin typeface="Bree Serif"/>
                <a:ea typeface="Bree Serif"/>
                <a:cs typeface="Bree Serif"/>
                <a:sym typeface="Bree Serif"/>
              </a:rPr>
              <a:t>Beneficiarios </a:t>
            </a:r>
            <a:endParaRPr b="1" sz="1800">
              <a:solidFill>
                <a:srgbClr val="0B5394"/>
              </a:solidFill>
              <a:highlight>
                <a:srgbClr val="FFFFFF"/>
              </a:highlight>
              <a:latin typeface="Bree Serif"/>
              <a:ea typeface="Bree Serif"/>
              <a:cs typeface="Bree Serif"/>
              <a:sym typeface="Bree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102" name="Google Shape;102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0737" y="3965351"/>
            <a:ext cx="1752602" cy="49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9267" y="4086775"/>
            <a:ext cx="2794934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923115" y="4604466"/>
            <a:ext cx="1812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50" lIns="66050" spcFirstLastPara="1" rIns="66050" wrap="square" tIns="6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66">
                <a:highlight>
                  <a:schemeClr val="lt1"/>
                </a:highlight>
                <a:latin typeface="Bree Serif"/>
                <a:ea typeface="Bree Serif"/>
                <a:cs typeface="Bree Serif"/>
                <a:sym typeface="Bree Serif"/>
              </a:rPr>
              <a:t>Secretaría de salud</a:t>
            </a:r>
            <a:endParaRPr sz="1239">
              <a:highlight>
                <a:schemeClr val="lt1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3230715" y="4485466"/>
            <a:ext cx="1812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66">
                <a:highlight>
                  <a:schemeClr val="lt1"/>
                </a:highlight>
                <a:latin typeface="Bree Serif"/>
                <a:ea typeface="Bree Serif"/>
                <a:cs typeface="Bree Serif"/>
                <a:sym typeface="Bree Serif"/>
              </a:rPr>
              <a:t>EPS/IPS</a:t>
            </a:r>
            <a:endParaRPr sz="1239">
              <a:highlight>
                <a:schemeClr val="lt1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62153" y="4604466"/>
            <a:ext cx="1812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50" lIns="66050" spcFirstLastPara="1" rIns="66050" wrap="square" tIns="6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66">
                <a:highlight>
                  <a:schemeClr val="lt1"/>
                </a:highlight>
                <a:latin typeface="Bree Serif"/>
                <a:ea typeface="Bree Serif"/>
                <a:cs typeface="Bree Serif"/>
                <a:sym typeface="Bree Serif"/>
              </a:rPr>
              <a:t>subredes hospitalarias</a:t>
            </a:r>
            <a:endParaRPr sz="1239">
              <a:highlight>
                <a:schemeClr val="lt1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  <p:cxnSp>
        <p:nvCxnSpPr>
          <p:cNvPr id="107" name="Google Shape;107;p14"/>
          <p:cNvCxnSpPr/>
          <p:nvPr/>
        </p:nvCxnSpPr>
        <p:spPr>
          <a:xfrm flipH="1">
            <a:off x="1809687" y="3557275"/>
            <a:ext cx="1636200" cy="5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4"/>
          <p:cNvCxnSpPr/>
          <p:nvPr/>
        </p:nvCxnSpPr>
        <p:spPr>
          <a:xfrm>
            <a:off x="4990959" y="3505750"/>
            <a:ext cx="1507800" cy="56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4"/>
          <p:cNvCxnSpPr/>
          <p:nvPr/>
        </p:nvCxnSpPr>
        <p:spPr>
          <a:xfrm>
            <a:off x="4197938" y="3592226"/>
            <a:ext cx="2700" cy="40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4"/>
          <p:cNvSpPr txBox="1"/>
          <p:nvPr/>
        </p:nvSpPr>
        <p:spPr>
          <a:xfrm>
            <a:off x="5000350" y="12837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Bree Serif"/>
                <a:ea typeface="Bree Serif"/>
                <a:cs typeface="Bree Serif"/>
                <a:sym typeface="Bree Serif"/>
              </a:rPr>
              <a:t>2.1 millones de muertes anuales por ECV en América</a:t>
            </a:r>
            <a:endParaRPr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111" name="Google Shape;111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77987" y="1868000"/>
            <a:ext cx="2125525" cy="89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>
            <p:ph type="title"/>
          </p:nvPr>
        </p:nvSpPr>
        <p:spPr>
          <a:xfrm>
            <a:off x="727650" y="499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ADQUISICIÓN DE LOS DATOS</a:t>
            </a:r>
            <a:endParaRPr/>
          </a:p>
        </p:txBody>
      </p:sp>
      <p:pic>
        <p:nvPicPr>
          <p:cNvPr id="117" name="Google Shape;11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71450"/>
            <a:ext cx="1928788" cy="1013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" name="Google Shape;118;p15"/>
          <p:cNvGraphicFramePr/>
          <p:nvPr/>
        </p:nvGraphicFramePr>
        <p:xfrm>
          <a:off x="666775" y="152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{5DEA7673-DE2A-405D-BC26-2F4B7DBC4A23}</a:tableStyleId>
              </a:tblPr>
              <a:tblGrid>
                <a:gridCol w="1610600"/>
                <a:gridCol w="384475"/>
                <a:gridCol w="1005300"/>
              </a:tblGrid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Número</a:t>
                      </a:r>
                      <a:r>
                        <a:rPr lang="es-419" sz="1000"/>
                        <a:t> de registros: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47.542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Número</a:t>
                      </a:r>
                      <a:r>
                        <a:rPr lang="es-419" sz="1000"/>
                        <a:t> de Variables: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12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Periodo temporal: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2015-2024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variables </a:t>
                      </a:r>
                      <a:r>
                        <a:rPr lang="es-419" sz="1000"/>
                        <a:t>numéricas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variables </a:t>
                      </a:r>
                      <a:r>
                        <a:rPr lang="es-419" sz="1000"/>
                        <a:t>categóricas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Datos duplicados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957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Datos nulos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351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Datos </a:t>
                      </a:r>
                      <a:r>
                        <a:rPr lang="es-419" sz="1000"/>
                        <a:t>atípicos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 711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Datos inconsistentes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 </a:t>
                      </a:r>
                      <a:r>
                        <a:rPr lang="es-419" sz="1050">
                          <a:highlight>
                            <a:srgbClr val="FFFFFF"/>
                          </a:highlight>
                        </a:rPr>
                        <a:t>10.994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Datos corruptos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 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3375" y="1697375"/>
            <a:ext cx="5084764" cy="268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681825" y="604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PROCESAMIENTO DE LOS DATOS</a:t>
            </a:r>
            <a:endParaRPr/>
          </a:p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61925"/>
            <a:ext cx="1928788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5288" y="2571750"/>
            <a:ext cx="61245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48500" y="1378450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0B5394"/>
                </a:solidFill>
                <a:highlight>
                  <a:srgbClr val="FFFFFF"/>
                </a:highlight>
                <a:latin typeface="Bree Serif"/>
                <a:ea typeface="Bree Serif"/>
                <a:cs typeface="Bree Serif"/>
                <a:sym typeface="Bree Serif"/>
              </a:rPr>
              <a:t>ESTANDARIZACIÓN DE VARIABLES</a:t>
            </a:r>
            <a:endParaRPr b="1" sz="1800">
              <a:solidFill>
                <a:srgbClr val="0B5394"/>
              </a:solidFill>
              <a:highlight>
                <a:srgbClr val="FFFFFF"/>
              </a:highlight>
              <a:latin typeface="Bree Serif"/>
              <a:ea typeface="Bree Serif"/>
              <a:cs typeface="Bree Serif"/>
              <a:sym typeface="Bree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479475" y="47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VISUALIZACIONES</a:t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61925"/>
            <a:ext cx="1928788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497500"/>
            <a:ext cx="6103151" cy="364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1600" y="316725"/>
            <a:ext cx="4188125" cy="28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479475" y="47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VISUALIZACIONES</a:t>
            </a:r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3">
            <a:alphaModFix/>
          </a:blip>
          <a:srcRect b="3883" l="0" r="0" t="0"/>
          <a:stretch/>
        </p:blipFill>
        <p:spPr>
          <a:xfrm>
            <a:off x="4229100" y="803700"/>
            <a:ext cx="4600575" cy="433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5200" y="-161925"/>
            <a:ext cx="1928788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325" y="956700"/>
            <a:ext cx="4749473" cy="318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479475" y="47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VISUALIZACIONES</a:t>
            </a:r>
            <a:endParaRPr/>
          </a:p>
        </p:txBody>
      </p:sp>
      <p:pic>
        <p:nvPicPr>
          <p:cNvPr id="149" name="Google Shape;14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61925"/>
            <a:ext cx="1928788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776" y="1013850"/>
            <a:ext cx="6934001" cy="4023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727650" y="651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CONCLUSIONES</a:t>
            </a:r>
            <a:endParaRPr/>
          </a:p>
        </p:txBody>
      </p:sp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201750" y="1683775"/>
            <a:ext cx="8435100" cy="26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enfermedades isquémicas son la principal causa de muerte en Bogotá, con pico en </a:t>
            </a:r>
            <a:r>
              <a:rPr b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2020–2021 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mayor carga en zonas vulnerables:</a:t>
            </a:r>
            <a:r>
              <a:rPr b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Kennedy, Suba, Ciudad Bolívar y Rafael Uribe Uribe</a:t>
            </a:r>
            <a:b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mayoría de muertes ocurren entre</a:t>
            </a:r>
            <a:r>
              <a:rPr b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55–70 años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con casos prematuros relevantes y menor registro en 2025 por consolidación de datos.</a:t>
            </a:r>
            <a:b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depuraron duplicados y nulos, garantizando casos únicos, y se mantuvieron valores extremos de edad por su importancia epidemiológica.</a:t>
            </a:r>
            <a:b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análisis descriptivo e inferencial mostró desigualdades por sexo, edad y localidad, con predominio isquémico y variabilidad parcial explicada en la edad al fallecer.</a:t>
            </a:r>
            <a:b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proyecto entrega a la </a:t>
            </a:r>
            <a:r>
              <a:rPr b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Secretaría de Salud 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insumo reproducible que prioriza territorios en riesgo, estandariza análisis y optimiza recursos para intervenciones de alto impacto.</a:t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157" name="Google Shape;15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7575" y="-133350"/>
            <a:ext cx="1928788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