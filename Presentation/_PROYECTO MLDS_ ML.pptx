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Bree Serif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6EA9AD-2A59-427E-9C01-943F7F94F09A}">
  <a:tblStyle styleId="{D96EA9AD-2A59-427E-9C01-943F7F94F0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BreeSerif-regular.fntdata"/><Relationship Id="rId13" Type="http://schemas.openxmlformats.org/officeDocument/2006/relationships/font" Target="fonts/Raleway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640f789b6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640f789b6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640f789b6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640f789b6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objetivo principal es desarrollar un modelo de </a:t>
            </a:r>
            <a:r>
              <a:rPr i="1" lang="es-419">
                <a:solidFill>
                  <a:schemeClr val="dk1"/>
                </a:solidFill>
              </a:rPr>
              <a:t>machine learning</a:t>
            </a:r>
            <a:r>
              <a:rPr lang="es-419">
                <a:solidFill>
                  <a:schemeClr val="dk1"/>
                </a:solidFill>
              </a:rPr>
              <a:t> capaz de </a:t>
            </a:r>
            <a:r>
              <a:rPr b="1" lang="es-419">
                <a:solidFill>
                  <a:schemeClr val="dk1"/>
                </a:solidFill>
              </a:rPr>
              <a:t>predecir el nivel de obesidad</a:t>
            </a:r>
            <a:r>
              <a:rPr lang="es-419">
                <a:solidFill>
                  <a:schemeClr val="dk1"/>
                </a:solidFill>
              </a:rPr>
              <a:t> de una persona —desde bajo peso hasta obesidad tipo III— a partir de sus </a:t>
            </a:r>
            <a:r>
              <a:rPr b="1" lang="es-419">
                <a:solidFill>
                  <a:schemeClr val="dk1"/>
                </a:solidFill>
              </a:rPr>
              <a:t>hábitos alimenticios y condición física</a:t>
            </a:r>
            <a:r>
              <a:rPr lang="es-419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Este modelo busca ser una herramienta de apoyo para </a:t>
            </a:r>
            <a:r>
              <a:rPr b="1" lang="es-419">
                <a:solidFill>
                  <a:schemeClr val="dk1"/>
                </a:solidFill>
              </a:rPr>
              <a:t>instituciones de salud pública y privada</a:t>
            </a:r>
            <a:r>
              <a:rPr lang="es-419">
                <a:solidFill>
                  <a:schemeClr val="dk1"/>
                </a:solidFill>
              </a:rPr>
              <a:t> que trabajan en </a:t>
            </a:r>
            <a:r>
              <a:rPr b="1" lang="es-419">
                <a:solidFill>
                  <a:schemeClr val="dk1"/>
                </a:solidFill>
              </a:rPr>
              <a:t>prevención y promoción de la salud</a:t>
            </a:r>
            <a:r>
              <a:rPr lang="es-419">
                <a:solidFill>
                  <a:schemeClr val="dk1"/>
                </a:solidFill>
              </a:rPr>
              <a:t>, así como para </a:t>
            </a:r>
            <a:r>
              <a:rPr b="1" lang="es-419">
                <a:solidFill>
                  <a:schemeClr val="dk1"/>
                </a:solidFill>
              </a:rPr>
              <a:t>programas de bienestar y control nutricional</a:t>
            </a:r>
            <a:r>
              <a:rPr lang="es-419">
                <a:solidFill>
                  <a:schemeClr val="dk1"/>
                </a:solidFill>
              </a:rPr>
              <a:t> enfocados en reducir el riesgo de enfermedades crónicas asociadas al sobrepeso.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dataset utilizado incluye información de </a:t>
            </a:r>
            <a:r>
              <a:rPr b="1" lang="es-419">
                <a:solidFill>
                  <a:schemeClr val="dk1"/>
                </a:solidFill>
              </a:rPr>
              <a:t>México, Perú y Colombia</a:t>
            </a:r>
            <a:r>
              <a:rPr lang="es-419">
                <a:solidFill>
                  <a:schemeClr val="dk1"/>
                </a:solidFill>
              </a:rPr>
              <a:t>, regiones donde la obesidad representa un grave problema de salud pública.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 Según la </a:t>
            </a:r>
            <a:r>
              <a:rPr b="1" lang="es-419">
                <a:solidFill>
                  <a:schemeClr val="dk1"/>
                </a:solidFill>
              </a:rPr>
              <a:t>OMS</a:t>
            </a:r>
            <a:r>
              <a:rPr lang="es-419">
                <a:solidFill>
                  <a:schemeClr val="dk1"/>
                </a:solidFill>
              </a:rPr>
              <a:t>, esta condición causa más de </a:t>
            </a:r>
            <a:r>
              <a:rPr b="1" lang="es-419">
                <a:solidFill>
                  <a:schemeClr val="dk1"/>
                </a:solidFill>
              </a:rPr>
              <a:t>3,7 millones de muertes al año</a:t>
            </a:r>
            <a:r>
              <a:rPr lang="es-419">
                <a:solidFill>
                  <a:schemeClr val="dk1"/>
                </a:solidFill>
              </a:rPr>
              <a:t> en el mundo.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 En </a:t>
            </a:r>
            <a:r>
              <a:rPr b="1" lang="es-419">
                <a:solidFill>
                  <a:schemeClr val="dk1"/>
                </a:solidFill>
              </a:rPr>
              <a:t>México</a:t>
            </a:r>
            <a:r>
              <a:rPr lang="es-419">
                <a:solidFill>
                  <a:schemeClr val="dk1"/>
                </a:solidFill>
              </a:rPr>
              <a:t>, más del </a:t>
            </a:r>
            <a:r>
              <a:rPr b="1" lang="es-419">
                <a:solidFill>
                  <a:schemeClr val="dk1"/>
                </a:solidFill>
              </a:rPr>
              <a:t>35 %</a:t>
            </a:r>
            <a:r>
              <a:rPr lang="es-419">
                <a:solidFill>
                  <a:schemeClr val="dk1"/>
                </a:solidFill>
              </a:rPr>
              <a:t> de los adultos viven con obesidad;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 en </a:t>
            </a:r>
            <a:r>
              <a:rPr b="1" lang="es-419">
                <a:solidFill>
                  <a:schemeClr val="dk1"/>
                </a:solidFill>
              </a:rPr>
              <a:t>Colombia</a:t>
            </a:r>
            <a:r>
              <a:rPr lang="es-419">
                <a:solidFill>
                  <a:schemeClr val="dk1"/>
                </a:solidFill>
              </a:rPr>
              <a:t>, el </a:t>
            </a:r>
            <a:r>
              <a:rPr b="1" lang="es-419">
                <a:solidFill>
                  <a:schemeClr val="dk1"/>
                </a:solidFill>
              </a:rPr>
              <a:t>60 %</a:t>
            </a:r>
            <a:r>
              <a:rPr lang="es-419">
                <a:solidFill>
                  <a:schemeClr val="dk1"/>
                </a:solidFill>
              </a:rPr>
              <a:t> de la población presenta exceso de peso;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 y en </a:t>
            </a:r>
            <a:r>
              <a:rPr b="1" lang="es-419">
                <a:solidFill>
                  <a:schemeClr val="dk1"/>
                </a:solidFill>
              </a:rPr>
              <a:t>Perú</a:t>
            </a:r>
            <a:r>
              <a:rPr lang="es-419">
                <a:solidFill>
                  <a:schemeClr val="dk1"/>
                </a:solidFill>
              </a:rPr>
              <a:t>, la prevalencia supera el </a:t>
            </a:r>
            <a:r>
              <a:rPr b="1" lang="es-419">
                <a:solidFill>
                  <a:schemeClr val="dk1"/>
                </a:solidFill>
              </a:rPr>
              <a:t>38 %</a:t>
            </a:r>
            <a:r>
              <a:rPr lang="es-419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En cuanto al alcance del proyecto, este incluye el análisis exploratorio del dataset, el entrenamiento y evaluación de diferentes modelos de clasificación, y la identificación de las variables más influyentes en el nivel de obesidad.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No se incluye el uso de datos clínicos ni la validación médica, ya que el propósito es </a:t>
            </a:r>
            <a:r>
              <a:rPr b="1" lang="es-419">
                <a:solidFill>
                  <a:schemeClr val="dk1"/>
                </a:solidFill>
              </a:rPr>
              <a:t>demostrar el potencial del aprendizaje automático como herramienta preventiva y educativa</a:t>
            </a:r>
            <a:r>
              <a:rPr lang="es-419">
                <a:solidFill>
                  <a:schemeClr val="dk1"/>
                </a:solidFill>
              </a:rPr>
              <a:t> en temas de salud pública.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640f789b6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640f789b6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En esta etapa de adquision de los datos  se describe la fuente y las características del conjunto de datos utilizado.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 El dataset proviene del </a:t>
            </a:r>
            <a:r>
              <a:rPr b="1" lang="es-419">
                <a:solidFill>
                  <a:schemeClr val="dk1"/>
                </a:solidFill>
              </a:rPr>
              <a:t>repositorio de Machine Learning de la Universidad de California – Irvine (UCI)</a:t>
            </a:r>
            <a:r>
              <a:rPr lang="es-419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Incluye información de personas provenientes de </a:t>
            </a:r>
            <a:r>
              <a:rPr b="1" lang="es-419">
                <a:solidFill>
                  <a:schemeClr val="dk1"/>
                </a:solidFill>
              </a:rPr>
              <a:t>México, Perú y Colombia</a:t>
            </a:r>
            <a:r>
              <a:rPr lang="es-419">
                <a:solidFill>
                  <a:schemeClr val="dk1"/>
                </a:solidFill>
              </a:rPr>
              <a:t>, y busca estimar el </a:t>
            </a:r>
            <a:r>
              <a:rPr b="1" lang="es-419">
                <a:solidFill>
                  <a:schemeClr val="dk1"/>
                </a:solidFill>
              </a:rPr>
              <a:t>nivel de obesidad</a:t>
            </a:r>
            <a:r>
              <a:rPr lang="es-419">
                <a:solidFill>
                  <a:schemeClr val="dk1"/>
                </a:solidFill>
              </a:rPr>
              <a:t> a partir de variables relacionadas con la alimentación, la actividad física y los hábitos diarios.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conjunto de datos contiene </a:t>
            </a:r>
            <a:r>
              <a:rPr b="1" lang="es-419">
                <a:solidFill>
                  <a:schemeClr val="dk1"/>
                </a:solidFill>
              </a:rPr>
              <a:t>2.111 registros</a:t>
            </a:r>
            <a:r>
              <a:rPr lang="es-419">
                <a:solidFill>
                  <a:schemeClr val="dk1"/>
                </a:solidFill>
              </a:rPr>
              <a:t> y </a:t>
            </a:r>
            <a:r>
              <a:rPr b="1" lang="es-419">
                <a:solidFill>
                  <a:schemeClr val="dk1"/>
                </a:solidFill>
              </a:rPr>
              <a:t>17 variables</a:t>
            </a:r>
            <a:r>
              <a:rPr lang="es-419">
                <a:solidFill>
                  <a:schemeClr val="dk1"/>
                </a:solidFill>
              </a:rPr>
              <a:t>, de las cuales </a:t>
            </a:r>
            <a:r>
              <a:rPr b="1" lang="es-419">
                <a:solidFill>
                  <a:schemeClr val="dk1"/>
                </a:solidFill>
              </a:rPr>
              <a:t>7 son numéricas</a:t>
            </a:r>
            <a:r>
              <a:rPr lang="es-419">
                <a:solidFill>
                  <a:schemeClr val="dk1"/>
                </a:solidFill>
              </a:rPr>
              <a:t> y </a:t>
            </a:r>
            <a:r>
              <a:rPr b="1" lang="es-419">
                <a:solidFill>
                  <a:schemeClr val="dk1"/>
                </a:solidFill>
              </a:rPr>
              <a:t>10 categóricas</a:t>
            </a:r>
            <a:r>
              <a:rPr lang="es-419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Durante la revisión de calidad se detectaron </a:t>
            </a:r>
            <a:r>
              <a:rPr b="1" lang="es-419">
                <a:solidFill>
                  <a:schemeClr val="dk1"/>
                </a:solidFill>
              </a:rPr>
              <a:t>24 datos duplicados</a:t>
            </a:r>
            <a:r>
              <a:rPr lang="es-419">
                <a:solidFill>
                  <a:schemeClr val="dk1"/>
                </a:solidFill>
              </a:rPr>
              <a:t>, que fueron tratados, y </a:t>
            </a:r>
            <a:r>
              <a:rPr b="1" lang="es-419">
                <a:solidFill>
                  <a:schemeClr val="dk1"/>
                </a:solidFill>
              </a:rPr>
              <a:t>no se encontraron valores nulos, inconsistentes ni corruptos</a:t>
            </a:r>
            <a:r>
              <a:rPr lang="es-419">
                <a:solidFill>
                  <a:schemeClr val="dk1"/>
                </a:solidFill>
              </a:rPr>
              <a:t>, lo que demuestra que el dataset tiene una </a:t>
            </a:r>
            <a:r>
              <a:rPr b="1" lang="es-419">
                <a:solidFill>
                  <a:schemeClr val="dk1"/>
                </a:solidFill>
              </a:rPr>
              <a:t>alta integridad y limpieza</a:t>
            </a:r>
            <a:r>
              <a:rPr lang="es-419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Además, se identificaron </a:t>
            </a:r>
            <a:r>
              <a:rPr b="1" lang="es-419">
                <a:solidFill>
                  <a:schemeClr val="dk1"/>
                </a:solidFill>
              </a:rPr>
              <a:t>745 valores atípicos</a:t>
            </a:r>
            <a:r>
              <a:rPr lang="es-419">
                <a:solidFill>
                  <a:schemeClr val="dk1"/>
                </a:solidFill>
              </a:rPr>
              <a:t>, principalmente en variables como la edad, el peso y el número de comidas diarias, aunque estos valores se consideran plausibles y no errores, ya que reflejan comportamientos reales en la población.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640f789b6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640f789b6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En esta etapa se preparó el dataset para el entrenamiento de los modelos.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 Primero, se realizó una división de los datos en </a:t>
            </a:r>
            <a:r>
              <a:rPr b="1" lang="es-419">
                <a:solidFill>
                  <a:schemeClr val="dk1"/>
                </a:solidFill>
              </a:rPr>
              <a:t>70 % para entrenamiento y 30 % para prueba</a:t>
            </a:r>
            <a:r>
              <a:rPr lang="es-419">
                <a:solidFill>
                  <a:schemeClr val="dk1"/>
                </a:solidFill>
              </a:rPr>
              <a:t>, aplicando una </a:t>
            </a:r>
            <a:r>
              <a:rPr b="1" lang="es-419">
                <a:solidFill>
                  <a:schemeClr val="dk1"/>
                </a:solidFill>
              </a:rPr>
              <a:t>estratificación por clase</a:t>
            </a:r>
            <a:r>
              <a:rPr lang="es-419">
                <a:solidFill>
                  <a:schemeClr val="dk1"/>
                </a:solidFill>
              </a:rPr>
              <a:t>. Esto permitió mantener la misma proporción de niveles de obesidad en ambos conjuntos, evitando sesgos y garantizando una evaluación más justa del modelo.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Posteriormente, se llevó a cabo el </a:t>
            </a:r>
            <a:r>
              <a:rPr b="1" lang="es-419">
                <a:solidFill>
                  <a:schemeClr val="dk1"/>
                </a:solidFill>
              </a:rPr>
              <a:t>preprocesamiento de las variables</a:t>
            </a:r>
            <a:r>
              <a:rPr lang="es-419">
                <a:solidFill>
                  <a:schemeClr val="dk1"/>
                </a:solidFill>
              </a:rPr>
              <a:t>.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 Las variables </a:t>
            </a:r>
            <a:r>
              <a:rPr b="1" lang="es-419">
                <a:solidFill>
                  <a:schemeClr val="dk1"/>
                </a:solidFill>
              </a:rPr>
              <a:t>categóricas</a:t>
            </a:r>
            <a:r>
              <a:rPr lang="es-419">
                <a:solidFill>
                  <a:schemeClr val="dk1"/>
                </a:solidFill>
              </a:rPr>
              <a:t> se transformaron mediante </a:t>
            </a:r>
            <a:r>
              <a:rPr b="1" lang="es-419">
                <a:solidFill>
                  <a:schemeClr val="dk1"/>
                </a:solidFill>
              </a:rPr>
              <a:t>OneHotEncoder</a:t>
            </a:r>
            <a:r>
              <a:rPr lang="es-419">
                <a:solidFill>
                  <a:schemeClr val="dk1"/>
                </a:solidFill>
              </a:rPr>
              <a:t>, convirtiendo cada categoría en valores binarios que los algoritmos pudieran interpretar.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Por otro lado, las variables </a:t>
            </a:r>
            <a:r>
              <a:rPr b="1" lang="es-419">
                <a:solidFill>
                  <a:schemeClr val="dk1"/>
                </a:solidFill>
              </a:rPr>
              <a:t>numéricas</a:t>
            </a:r>
            <a:r>
              <a:rPr lang="es-419">
                <a:solidFill>
                  <a:schemeClr val="dk1"/>
                </a:solidFill>
              </a:rPr>
              <a:t> se escalaron utilizando </a:t>
            </a:r>
            <a:r>
              <a:rPr b="1" lang="es-419">
                <a:solidFill>
                  <a:schemeClr val="dk1"/>
                </a:solidFill>
              </a:rPr>
              <a:t>StandardScaler</a:t>
            </a:r>
            <a:r>
              <a:rPr lang="es-419">
                <a:solidFill>
                  <a:schemeClr val="dk1"/>
                </a:solidFill>
              </a:rPr>
              <a:t>, de forma que todas quedaran dentro del mismo rango de magnitudes.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Este proceso fue fundamental para asegurar que los modelos pudieran aprender de manera equilibrada, sin que una variable con valores más grandes dominara el entrenamiento.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Con esta etapa completada, el dataset quedó listo para aplicar los diferentes clasificadores y realizar la validación cruzada.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65aff377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65aff37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Continuando con el proceso de comparacion del desempeño se realizo la  gráfica de las metricas </a:t>
            </a:r>
            <a:r>
              <a:rPr b="1" lang="es-419">
                <a:solidFill>
                  <a:schemeClr val="dk1"/>
                </a:solidFill>
              </a:rPr>
              <a:t>Accuracy</a:t>
            </a:r>
            <a:r>
              <a:rPr lang="es-419">
                <a:solidFill>
                  <a:schemeClr val="dk1"/>
                </a:solidFill>
              </a:rPr>
              <a:t> y </a:t>
            </a:r>
            <a:r>
              <a:rPr b="1" lang="es-419">
                <a:solidFill>
                  <a:schemeClr val="dk1"/>
                </a:solidFill>
              </a:rPr>
              <a:t>F1-macro </a:t>
            </a:r>
            <a:r>
              <a:rPr lang="es-419">
                <a:solidFill>
                  <a:schemeClr val="dk1"/>
                </a:solidFill>
              </a:rPr>
              <a:t>de los siete modelos de clasificación evaluados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Como se puede observar, los modelos </a:t>
            </a:r>
            <a:r>
              <a:rPr b="1" lang="es-419">
                <a:solidFill>
                  <a:schemeClr val="dk1"/>
                </a:solidFill>
              </a:rPr>
              <a:t>SVM</a:t>
            </a:r>
            <a:r>
              <a:rPr lang="es-419">
                <a:solidFill>
                  <a:schemeClr val="dk1"/>
                </a:solidFill>
              </a:rPr>
              <a:t>, </a:t>
            </a:r>
            <a:r>
              <a:rPr b="1" lang="es-419">
                <a:solidFill>
                  <a:schemeClr val="dk1"/>
                </a:solidFill>
              </a:rPr>
              <a:t>Random Forest</a:t>
            </a:r>
            <a:r>
              <a:rPr lang="es-419">
                <a:solidFill>
                  <a:schemeClr val="dk1"/>
                </a:solidFill>
              </a:rPr>
              <a:t> y </a:t>
            </a:r>
            <a:r>
              <a:rPr b="1" lang="es-419">
                <a:solidFill>
                  <a:schemeClr val="dk1"/>
                </a:solidFill>
              </a:rPr>
              <a:t>Árbol de Decisión</a:t>
            </a:r>
            <a:r>
              <a:rPr lang="es-419">
                <a:solidFill>
                  <a:schemeClr val="dk1"/>
                </a:solidFill>
              </a:rPr>
              <a:t> obtienen los mejores resultados, con valores cercanos al </a:t>
            </a:r>
            <a:r>
              <a:rPr b="1" lang="es-419">
                <a:solidFill>
                  <a:schemeClr val="dk1"/>
                </a:solidFill>
              </a:rPr>
              <a:t>95 %</a:t>
            </a:r>
            <a:r>
              <a:rPr lang="es-419">
                <a:solidFill>
                  <a:schemeClr val="dk1"/>
                </a:solidFill>
              </a:rPr>
              <a:t>, tanto en precisión como en F1-macro. Esto indica que no solo clasifican correctamente la mayoría de los casos, sino que además mantienen un buen equilibrio entre todas las categorías de obesidad.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En el caso de la </a:t>
            </a:r>
            <a:r>
              <a:rPr b="1" lang="es-419">
                <a:solidFill>
                  <a:schemeClr val="dk1"/>
                </a:solidFill>
              </a:rPr>
              <a:t>Regresión Logística</a:t>
            </a:r>
            <a:r>
              <a:rPr lang="es-419">
                <a:solidFill>
                  <a:schemeClr val="dk1"/>
                </a:solidFill>
              </a:rPr>
              <a:t> y </a:t>
            </a:r>
            <a:r>
              <a:rPr b="1" lang="es-419">
                <a:solidFill>
                  <a:schemeClr val="dk1"/>
                </a:solidFill>
              </a:rPr>
              <a:t>KNN</a:t>
            </a:r>
            <a:r>
              <a:rPr lang="es-419">
                <a:solidFill>
                  <a:schemeClr val="dk1"/>
                </a:solidFill>
              </a:rPr>
              <a:t>, los resultados son también buenos, aunque inferiores, lo que muestra que estos modelos capturan patrones lineales, pero no tan complejos como los métodos basados en árboles o kernels.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Por otro lado, el modelo </a:t>
            </a:r>
            <a:r>
              <a:rPr b="1" lang="es-419">
                <a:solidFill>
                  <a:schemeClr val="dk1"/>
                </a:solidFill>
              </a:rPr>
              <a:t>Naive Bayes</a:t>
            </a:r>
            <a:r>
              <a:rPr lang="es-419">
                <a:solidFill>
                  <a:schemeClr val="dk1"/>
                </a:solidFill>
              </a:rPr>
              <a:t> presenta el desempeño más bajo, lo que era esperable, ya que asume independencia entre las variables — algo que no se cumple del todo en este tipo de datos multivariados sobre hábitos y condición física.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Finalmente, la </a:t>
            </a:r>
            <a:r>
              <a:rPr b="1" lang="es-419">
                <a:solidFill>
                  <a:schemeClr val="dk1"/>
                </a:solidFill>
              </a:rPr>
              <a:t>Red Neuronal</a:t>
            </a:r>
            <a:r>
              <a:rPr lang="es-419">
                <a:solidFill>
                  <a:schemeClr val="dk1"/>
                </a:solidFill>
              </a:rPr>
              <a:t> alcanzó métricas competitivas, pero con un costo computacional mayor, sin superar a SVM o Random Forest.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En conclusión, esta comparación nos permitió identificar que los modelos más robustos y consistentes para predecir el nivel de obesidad fueron </a:t>
            </a:r>
            <a:r>
              <a:rPr b="1" lang="es-419">
                <a:solidFill>
                  <a:schemeClr val="dk1"/>
                </a:solidFill>
              </a:rPr>
              <a:t>SVM</a:t>
            </a:r>
            <a:r>
              <a:rPr lang="es-419">
                <a:solidFill>
                  <a:schemeClr val="dk1"/>
                </a:solidFill>
              </a:rPr>
              <a:t> y </a:t>
            </a:r>
            <a:r>
              <a:rPr b="1" lang="es-419">
                <a:solidFill>
                  <a:schemeClr val="dk1"/>
                </a:solidFill>
              </a:rPr>
              <a:t>Random Forest</a:t>
            </a:r>
            <a:r>
              <a:rPr lang="es-419">
                <a:solidFill>
                  <a:schemeClr val="dk1"/>
                </a:solidFill>
              </a:rPr>
              <a:t>, ambos con excelente capacidad de generalización y bajo riesgo de sobreajuste.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640f789b6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640f789b6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60191" l="0" r="4598" t="0"/>
          <a:stretch/>
        </p:blipFill>
        <p:spPr>
          <a:xfrm>
            <a:off x="0" y="0"/>
            <a:ext cx="9144000" cy="8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764675" y="938513"/>
            <a:ext cx="5537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solidFill>
                  <a:schemeClr val="dk1"/>
                </a:solidFill>
              </a:rPr>
              <a:t>Proyecto MLDS: Machine Learning</a:t>
            </a:r>
            <a:endParaRPr b="1" sz="3300">
              <a:solidFill>
                <a:schemeClr val="dk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670450" y="2817450"/>
            <a:ext cx="55377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Mariana Aldana 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Steven Alejandro Martinez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Andres Felipe Nieto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Universidad Nacional de Colombia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Sede Bogotá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Lato"/>
                <a:ea typeface="Lato"/>
                <a:cs typeface="Lato"/>
                <a:sym typeface="Lato"/>
              </a:rPr>
              <a:t>2025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662150" y="568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ENTENDIMIENTO DEL NEGOCIO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52400"/>
            <a:ext cx="1928788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480572" y="1267616"/>
            <a:ext cx="1812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50" lIns="66050" spcFirstLastPara="1" rIns="66050" wrap="square" tIns="6605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/>
              <a:t>Más del </a:t>
            </a:r>
            <a:r>
              <a:rPr b="1" lang="es-419" sz="1100"/>
              <a:t>35 %</a:t>
            </a:r>
            <a:r>
              <a:rPr lang="es-419" sz="1100"/>
              <a:t> de los adultos presentan obesidad.</a:t>
            </a:r>
            <a:br>
              <a:rPr lang="es-419" sz="1100"/>
            </a:br>
            <a:endParaRPr sz="11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/>
              <a:t>Cerca del </a:t>
            </a:r>
            <a:r>
              <a:rPr b="1" lang="es-419" sz="1100"/>
              <a:t>60 %</a:t>
            </a:r>
            <a:r>
              <a:rPr lang="es-419" sz="1100"/>
              <a:t> de la población tiene sobrepeso u obes</a:t>
            </a:r>
            <a:r>
              <a:rPr lang="es-419" sz="1100"/>
              <a:t>idad.</a:t>
            </a:r>
            <a:br>
              <a:rPr lang="es-419" sz="1100"/>
            </a:br>
            <a:endParaRPr sz="11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/>
              <a:t>L</a:t>
            </a:r>
            <a:r>
              <a:rPr lang="es-419" sz="1100"/>
              <a:t>a prevalencia supera el </a:t>
            </a:r>
            <a:r>
              <a:rPr b="1" lang="es-419" sz="1100"/>
              <a:t>38 %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6">
              <a:highlight>
                <a:schemeClr val="lt1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725" y="1138674"/>
            <a:ext cx="2922243" cy="208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057" y="1267625"/>
            <a:ext cx="599825" cy="59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1057" y="1955175"/>
            <a:ext cx="599826" cy="59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8377" y="2578100"/>
            <a:ext cx="599825" cy="59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8">
            <a:alphaModFix/>
          </a:blip>
          <a:srcRect b="0" l="26713" r="0" t="9584"/>
          <a:stretch/>
        </p:blipFill>
        <p:spPr>
          <a:xfrm>
            <a:off x="5614474" y="3787714"/>
            <a:ext cx="1928800" cy="12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3445850" y="3258277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0B5394"/>
                </a:solidFill>
                <a:highlight>
                  <a:srgbClr val="FFFFFF"/>
                </a:highlight>
                <a:latin typeface="Bree Serif"/>
                <a:ea typeface="Bree Serif"/>
                <a:cs typeface="Bree Serif"/>
                <a:sym typeface="Bree Serif"/>
              </a:rPr>
              <a:t>Beneficiarios </a:t>
            </a:r>
            <a:endParaRPr b="1" sz="1800">
              <a:solidFill>
                <a:srgbClr val="0B5394"/>
              </a:solidFill>
              <a:highlight>
                <a:srgbClr val="FFFFFF"/>
              </a:highlight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  <p:cxnSp>
        <p:nvCxnSpPr>
          <p:cNvPr id="102" name="Google Shape;102;p14"/>
          <p:cNvCxnSpPr/>
          <p:nvPr/>
        </p:nvCxnSpPr>
        <p:spPr>
          <a:xfrm flipH="1">
            <a:off x="1809687" y="3596764"/>
            <a:ext cx="1636200" cy="5295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4"/>
          <p:cNvCxnSpPr/>
          <p:nvPr/>
        </p:nvCxnSpPr>
        <p:spPr>
          <a:xfrm>
            <a:off x="4990959" y="3545239"/>
            <a:ext cx="1507800" cy="5616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4"/>
          <p:cNvCxnSpPr/>
          <p:nvPr/>
        </p:nvCxnSpPr>
        <p:spPr>
          <a:xfrm>
            <a:off x="4197938" y="3631715"/>
            <a:ext cx="2700" cy="4089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4"/>
          <p:cNvSpPr txBox="1"/>
          <p:nvPr/>
        </p:nvSpPr>
        <p:spPr>
          <a:xfrm>
            <a:off x="386025" y="41262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latin typeface="Bree Serif"/>
                <a:ea typeface="Bree Serif"/>
                <a:cs typeface="Bree Serif"/>
                <a:sym typeface="Bree Serif"/>
              </a:rPr>
              <a:t>Programas de bienestar y </a:t>
            </a:r>
            <a:endParaRPr sz="1000"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latin typeface="Bree Serif"/>
                <a:ea typeface="Bree Serif"/>
                <a:cs typeface="Bree Serif"/>
                <a:sym typeface="Bree Serif"/>
              </a:rPr>
              <a:t>control nutricional</a:t>
            </a:r>
            <a:endParaRPr sz="100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2699300" y="399328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latin typeface="Bree Serif"/>
                <a:ea typeface="Bree Serif"/>
                <a:cs typeface="Bree Serif"/>
                <a:sym typeface="Bree Serif"/>
              </a:rPr>
              <a:t>Instituciones de salud </a:t>
            </a:r>
            <a:endParaRPr sz="1000"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latin typeface="Bree Serif"/>
                <a:ea typeface="Bree Serif"/>
                <a:cs typeface="Bree Serif"/>
                <a:sym typeface="Bree Serif"/>
              </a:rPr>
              <a:t>pública y privada</a:t>
            </a:r>
            <a:endParaRPr sz="1000"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29138" y="4278794"/>
            <a:ext cx="729075" cy="7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title"/>
          </p:nvPr>
        </p:nvSpPr>
        <p:spPr>
          <a:xfrm>
            <a:off x="727650" y="499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ADQUISICIÓN DE LOS DATOS</a:t>
            </a:r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71450"/>
            <a:ext cx="1928788" cy="1013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15"/>
          <p:cNvGraphicFramePr/>
          <p:nvPr/>
        </p:nvGraphicFramePr>
        <p:xfrm>
          <a:off x="5958288" y="123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{D96EA9AD-2A59-427E-9C01-943F7F94F09A}</a:tableStyleId>
              </a:tblPr>
              <a:tblGrid>
                <a:gridCol w="1610600"/>
                <a:gridCol w="384475"/>
                <a:gridCol w="1005300"/>
              </a:tblGrid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Número</a:t>
                      </a:r>
                      <a:r>
                        <a:rPr lang="es-419" sz="1000"/>
                        <a:t> de registros: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2,111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Número</a:t>
                      </a:r>
                      <a:r>
                        <a:rPr lang="es-419" sz="1000"/>
                        <a:t> de Variables: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17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variables </a:t>
                      </a:r>
                      <a:r>
                        <a:rPr lang="es-419" sz="1000"/>
                        <a:t>numéricas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variables </a:t>
                      </a:r>
                      <a:r>
                        <a:rPr lang="es-419" sz="1000"/>
                        <a:t>categóricas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duplicados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24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nulos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</a:t>
                      </a:r>
                      <a:r>
                        <a:rPr lang="es-419" sz="1000"/>
                        <a:t>atípicos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745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inconsistentes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0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Datos corruptos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26788" t="0"/>
          <a:stretch/>
        </p:blipFill>
        <p:spPr>
          <a:xfrm>
            <a:off x="0" y="1189852"/>
            <a:ext cx="5710649" cy="26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681825" y="604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 Y VALIDACIÓN</a:t>
            </a:r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11850" y="1423475"/>
            <a:ext cx="3654900" cy="20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/>
              <a:t>🧠 División de datos</a:t>
            </a:r>
            <a:endParaRPr b="1" sz="1100"/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s-419" sz="1100"/>
              <a:t>70 % entrenamiento</a:t>
            </a:r>
            <a:r>
              <a:rPr lang="es-419" sz="1100"/>
              <a:t> y </a:t>
            </a:r>
            <a:r>
              <a:rPr b="1" lang="es-419" sz="1100"/>
              <a:t>30 % prueba</a:t>
            </a:r>
            <a:br>
              <a:rPr b="1" lang="es-419" sz="1100"/>
            </a:br>
            <a:endParaRPr b="1" sz="11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419" sz="1100"/>
              <a:t>Estratificación por clase para mantener proporciones de niveles de obesidad</a:t>
            </a:r>
            <a:br>
              <a:rPr lang="es-419" sz="1100"/>
            </a:b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/>
              <a:t>📊 </a:t>
            </a:r>
            <a:r>
              <a:rPr i="1" lang="es-419" sz="1100"/>
              <a:t>Total de registros:</a:t>
            </a:r>
            <a:r>
              <a:rPr lang="es-419" sz="1100"/>
              <a:t> 2111 → 1477 para entrenamiento y 634 para prueba</a:t>
            </a:r>
            <a:endParaRPr sz="1100"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4295021" y="1489650"/>
            <a:ext cx="40755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/>
              <a:t>⚙️ Preprocesamiento de variables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s-419" sz="1100"/>
              <a:t>Categóricas:</a:t>
            </a:r>
            <a:r>
              <a:rPr lang="es-419" sz="1100"/>
              <a:t> codificadas con </a:t>
            </a:r>
            <a:r>
              <a:rPr i="1" lang="es-419" sz="1100"/>
              <a:t>OneHotEncoder</a:t>
            </a:r>
            <a:br>
              <a:rPr i="1" lang="es-419" sz="1100"/>
            </a:br>
            <a:endParaRPr i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419" sz="1100"/>
              <a:t>Numéricas:</a:t>
            </a:r>
            <a:r>
              <a:rPr lang="es-419" sz="1100"/>
              <a:t> escaladas con </a:t>
            </a:r>
            <a:r>
              <a:rPr i="1" lang="es-419" sz="1100"/>
              <a:t>StandardScaler</a:t>
            </a:r>
            <a:br>
              <a:rPr i="1" lang="es-419" sz="1100"/>
            </a:br>
            <a:endParaRPr i="1"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479475" y="47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VISUALIZACIONES</a:t>
            </a:r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200" y="-161925"/>
            <a:ext cx="192878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104" y="1013850"/>
            <a:ext cx="6166596" cy="382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094725" y="1763875"/>
            <a:ext cx="30000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600"/>
              <a:t>SVM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600"/>
              <a:t>Random Forest</a:t>
            </a:r>
            <a:r>
              <a:rPr lang="es-419" sz="1600"/>
              <a:t> 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1600"/>
              <a:t>Árbol de Decisión</a:t>
            </a:r>
            <a:endParaRPr sz="1900"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0475" y="1801775"/>
            <a:ext cx="365400" cy="3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1080" y="2253978"/>
            <a:ext cx="365400" cy="3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5426" y="2706175"/>
            <a:ext cx="365400" cy="3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727650" y="651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CONCLUSIONES</a:t>
            </a:r>
            <a:endParaRPr/>
          </a:p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249825" y="1385725"/>
            <a:ext cx="8435100" cy="26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calidad del dataset permitió un aprendizaje confiable, con 2.111 registros limpios y balanceados entre clases, los modelos pudieron entrenarse sin sesgos ni imputaciones, garantizando estabilidad y consistencia en las métricas.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y SVM alcanzaron valores de </a:t>
            </a:r>
            <a:r>
              <a:rPr i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F1-macro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superiores a 0.9, mostrando gran capacidad para identificar relaciones complejas entre hábitos alimenticios, actividad física y nivel de obesidad.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curvas de validación evidenciaron que aumentar parámetros como la profundidad de los árboles o el valor de </a:t>
            </a:r>
            <a:r>
              <a:rPr i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mejora el rendimiento hasta cierto punto, antes de estabilizarse. Esto confirmó un buen equilibrio entre sesgo y varianza.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Factores como el número de comidas diarias (NCP), la frecuencia de actividad física (FAF) y la ingesta de alimentos calóricos (FAVC) tuvieron un peso alto en la predicción, mostrando una clara relación entre el sedentarismo y la obesidad. El análisis confirma que la obesidad no depende de una sola variable, sino de la combinación de múltiples hábitos.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7575" y="-133350"/>
            <a:ext cx="1928788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