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Bree Serif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B93088-B92F-4FF5-98E0-16ED94809B43}">
  <a:tblStyle styleId="{1DB93088-B92F-4FF5-98E0-16ED94809B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reeSerif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40f789b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40f789b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d88f345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d88f345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</a:t>
            </a:r>
            <a:r>
              <a:rPr b="1" lang="es-419">
                <a:solidFill>
                  <a:schemeClr val="dk1"/>
                </a:solidFill>
              </a:rPr>
              <a:t>Colombia</a:t>
            </a:r>
            <a:r>
              <a:rPr lang="es-419">
                <a:solidFill>
                  <a:schemeClr val="dk1"/>
                </a:solidFill>
              </a:rPr>
              <a:t>, las ECV históricamente ocupan los primeros lugares de mortalidad, y en </a:t>
            </a:r>
            <a:r>
              <a:rPr b="1" lang="es-419">
                <a:solidFill>
                  <a:schemeClr val="dk1"/>
                </a:solidFill>
              </a:rPr>
              <a:t>Bogotá</a:t>
            </a:r>
            <a:r>
              <a:rPr lang="es-419">
                <a:solidFill>
                  <a:schemeClr val="dk1"/>
                </a:solidFill>
              </a:rPr>
              <a:t> son un eje prioritario de la política pública, con indicadores disponibles en el Observatorio de Salud – </a:t>
            </a:r>
            <a:r>
              <a:rPr b="1" lang="es-419">
                <a:solidFill>
                  <a:schemeClr val="dk1"/>
                </a:solidFill>
              </a:rPr>
              <a:t>SaluData</a:t>
            </a:r>
            <a:r>
              <a:rPr lang="es-419">
                <a:solidFill>
                  <a:schemeClr val="dk1"/>
                </a:solidFill>
              </a:rPr>
              <a:t> [Ministerio de Salud; SaluData, 2024].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88f345d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d88f345d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4012ba24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04012ba24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65aff37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65aff37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2ee51b4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2ee51b4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02ee51b4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02ee51b4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02ee51b4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02ee51b4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d88f345d8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d88f345d8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4012ba2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04012ba2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04012ba2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04012ba2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04012ba24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04012ba2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04012ba24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04012ba24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640f789b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640f789b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60191" l="0" r="4598" t="0"/>
          <a:stretch/>
        </p:blipFill>
        <p:spPr>
          <a:xfrm>
            <a:off x="0" y="0"/>
            <a:ext cx="9144000" cy="8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64675" y="938513"/>
            <a:ext cx="5537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chemeClr val="dk1"/>
                </a:solidFill>
              </a:rPr>
              <a:t>Proyecto MLDS: BIG DATA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670450" y="2817450"/>
            <a:ext cx="5537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Mariana Aldana 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Steven Alejandro Martinez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Andres Felipe Nieto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Universidad Nacional de Colombia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Sede Bogotá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2025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662150" y="568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ENTENDIMIENTO DEL NEGOCIO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52400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10778" r="0" t="0"/>
          <a:stretch/>
        </p:blipFill>
        <p:spPr>
          <a:xfrm>
            <a:off x="428625" y="1451050"/>
            <a:ext cx="2372726" cy="18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408175" y="2761785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cerebrovasculares (I60–I69)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642223" y="2160942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isquémicas (I20–I25)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363390" y="1621491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Hipertensiva (I10–I15)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0362" y="1621501"/>
            <a:ext cx="1609725" cy="20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26713" r="0" t="9584"/>
          <a:stretch/>
        </p:blipFill>
        <p:spPr>
          <a:xfrm>
            <a:off x="5614474" y="3748225"/>
            <a:ext cx="1928800" cy="1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445850" y="3218788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B5394"/>
                </a:solidFill>
                <a:highlight>
                  <a:srgbClr val="FFFFFF"/>
                </a:highlight>
                <a:latin typeface="Bree Serif"/>
                <a:ea typeface="Bree Serif"/>
                <a:cs typeface="Bree Serif"/>
                <a:sym typeface="Bree Serif"/>
              </a:rPr>
              <a:t>Beneficiarios </a:t>
            </a:r>
            <a:endParaRPr b="1" sz="1800">
              <a:solidFill>
                <a:srgbClr val="0B5394"/>
              </a:solidFill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0737" y="3965351"/>
            <a:ext cx="1752602" cy="4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9267" y="4086775"/>
            <a:ext cx="2794934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923115" y="460446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Secretaría de salud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230715" y="448546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EPS/IPS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62153" y="460446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subredes hospitalarias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cxnSp>
        <p:nvCxnSpPr>
          <p:cNvPr id="107" name="Google Shape;107;p14"/>
          <p:cNvCxnSpPr/>
          <p:nvPr/>
        </p:nvCxnSpPr>
        <p:spPr>
          <a:xfrm flipH="1">
            <a:off x="1809687" y="3557275"/>
            <a:ext cx="16362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4990959" y="3505750"/>
            <a:ext cx="1507800" cy="5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4"/>
          <p:cNvCxnSpPr/>
          <p:nvPr/>
        </p:nvCxnSpPr>
        <p:spPr>
          <a:xfrm>
            <a:off x="4197938" y="3592226"/>
            <a:ext cx="2700" cy="4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4"/>
          <p:cNvSpPr txBox="1"/>
          <p:nvPr/>
        </p:nvSpPr>
        <p:spPr>
          <a:xfrm>
            <a:off x="5000350" y="12837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Bree Serif"/>
                <a:ea typeface="Bree Serif"/>
                <a:cs typeface="Bree Serif"/>
                <a:sym typeface="Bree Serif"/>
              </a:rPr>
              <a:t>2.1 millones de muertes anuales por ECV en América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77987" y="1868000"/>
            <a:ext cx="2125525" cy="8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727650" y="499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ADQUISICIÓN DE LOS DATOS</a:t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71450"/>
            <a:ext cx="1928788" cy="1013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15"/>
          <p:cNvGraphicFramePr/>
          <p:nvPr/>
        </p:nvGraphicFramePr>
        <p:xfrm>
          <a:off x="666775" y="15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{1DB93088-B92F-4FF5-98E0-16ED94809B43}</a:tableStyleId>
              </a:tblPr>
              <a:tblGrid>
                <a:gridCol w="1610600"/>
                <a:gridCol w="384475"/>
                <a:gridCol w="1005300"/>
              </a:tblGrid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Número de registros: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47.542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Número de Variables: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Periodo temporal: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2015-2024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variables numéricas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variables categóricas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duplicados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957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nulos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351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atípicos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 711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inconsistentes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 </a:t>
                      </a:r>
                      <a:r>
                        <a:rPr lang="es-419" sz="1050">
                          <a:highlight>
                            <a:srgbClr val="FFFFFF"/>
                          </a:highlight>
                        </a:rPr>
                        <a:t>10.994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corruptos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 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375" y="1697375"/>
            <a:ext cx="5084764" cy="268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727650" y="499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Motor MONGO DB</a:t>
            </a:r>
            <a:endParaRPr/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71450"/>
            <a:ext cx="1928788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85700" y="1304375"/>
            <a:ext cx="7572600" cy="3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/>
              <a:t>MongoDB es una buena opción para manejar la base de datos de mortalidad por enfermedades neurocardiovasculares porque: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 </a:t>
            </a:r>
            <a:r>
              <a:rPr b="1" lang="es-419" sz="1100"/>
              <a:t>Maneja grandes volúmenes de datos</a:t>
            </a:r>
            <a:r>
              <a:rPr lang="es-419" sz="1100"/>
              <a:t> de forma eficiente, incluso con millones de registros históricos.</a:t>
            </a:r>
            <a:br>
              <a:rPr lang="es-419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Modelo de datos flexible (NoSQL)</a:t>
            </a:r>
            <a:r>
              <a:rPr lang="es-419" sz="1100"/>
              <a:t>, ideal para bases de datos de salud donde la estructura puede variar entre años.</a:t>
            </a:r>
            <a:br>
              <a:rPr lang="es-419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Consultas rápidas y agregaciones eficientes</a:t>
            </a:r>
            <a:r>
              <a:rPr lang="es-419" sz="1100"/>
              <a:t>, especialmente para análisis por año, localidad, edad y grupo CIE-10.</a:t>
            </a:r>
            <a:br>
              <a:rPr lang="es-419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Integración directa con Python</a:t>
            </a:r>
            <a:r>
              <a:rPr lang="es-419" sz="1100"/>
              <a:t>, lo que facilita el análisis con pandas, matplotlib y geopandas.</a:t>
            </a:r>
            <a:br>
              <a:rPr lang="es-419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MongoDB Atlas es una solución en la nube</a:t>
            </a:r>
            <a:r>
              <a:rPr lang="es-419" sz="1100"/>
              <a:t>, no requiere instalación local y permite trabajo colaborativo.</a:t>
            </a:r>
            <a:br>
              <a:rPr lang="es-419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Escalabilidad</a:t>
            </a:r>
            <a:r>
              <a:rPr lang="es-419" sz="1100"/>
              <a:t>, permite agregar nuevos años o variables sin rediseñar el esquema.</a:t>
            </a:r>
            <a:br>
              <a:rPr lang="es-419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Aggregation Pipeline</a:t>
            </a:r>
            <a:r>
              <a:rPr lang="es-419" sz="1100"/>
              <a:t>, que permite realizar preprocesamiento y análisis directamente en la base de datos.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MOTOR MONGO DB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00" y="2113614"/>
            <a:ext cx="3568024" cy="177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950" y="2113625"/>
            <a:ext cx="4706031" cy="1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type="title"/>
          </p:nvPr>
        </p:nvSpPr>
        <p:spPr>
          <a:xfrm>
            <a:off x="569363" y="1469800"/>
            <a:ext cx="314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4332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AutoNum type="arabicPeriod"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Conexión exitosa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4155956" y="1469800"/>
            <a:ext cx="47061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2. Selección de la base de datos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MOTOR MONGO DB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type="title"/>
          </p:nvPr>
        </p:nvSpPr>
        <p:spPr>
          <a:xfrm>
            <a:off x="569377" y="1469800"/>
            <a:ext cx="3745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3. Insersión documentos</a:t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275" y="2005000"/>
            <a:ext cx="4203074" cy="19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8975" y="2005000"/>
            <a:ext cx="3745066" cy="199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>
            <a:off x="5057050" y="1512700"/>
            <a:ext cx="37452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4. Consulta filtrada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MOTOR MONGO DB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2699402" y="1182300"/>
            <a:ext cx="3745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5. Pipeline de agregación</a:t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75" y="2005000"/>
            <a:ext cx="4373173" cy="240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4976" y="2005000"/>
            <a:ext cx="3051541" cy="240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MOTOR MONGO DB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type="title"/>
          </p:nvPr>
        </p:nvSpPr>
        <p:spPr>
          <a:xfrm>
            <a:off x="1710700" y="1426400"/>
            <a:ext cx="6685200" cy="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995">
                <a:solidFill>
                  <a:srgbClr val="313131"/>
                </a:solidFill>
                <a:highlight>
                  <a:srgbClr val="FFFFFF"/>
                </a:highlight>
              </a:rPr>
              <a:t>Cluster mlds3MAA configurado en la región Sao Paulo (southamerica-east) accesible desde Atlas</a:t>
            </a:r>
            <a:endParaRPr sz="2040"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9878" y="2217675"/>
            <a:ext cx="5039899" cy="26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VISUALIZACIONES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263" y="1013850"/>
            <a:ext cx="5165115" cy="3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VISUALIZACIONES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75" y="1079550"/>
            <a:ext cx="3585797" cy="38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1972" y="1166250"/>
            <a:ext cx="3209925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1972" y="2813100"/>
            <a:ext cx="2897249" cy="20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VISUALIZACIONES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300" y="1013850"/>
            <a:ext cx="8253918" cy="38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VISUALIZACIONES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75" y="1013850"/>
            <a:ext cx="8259457" cy="382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313131"/>
                </a:solidFill>
                <a:highlight>
                  <a:srgbClr val="FFFFFF"/>
                </a:highlight>
              </a:rPr>
              <a:t>VISUALIZACIONES</a:t>
            </a:r>
            <a:endParaRPr sz="255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31313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38" y="954350"/>
            <a:ext cx="8253918" cy="38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727650" y="651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249825" y="1385725"/>
            <a:ext cx="8435100" cy="26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uso de big data permite transformar un volumen masivo de registros de mortalidad en evidencia accionable, revelando patrones territoriales y poblacionales que no serían visibles mediante métodos tradicionales y fortaleciendo la comprensión de las desigualdades en salud en Bogotá.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integración de una base de datos escalable como MongoDB facilita la gestión, consulta y análisis estructurado de la información entre 2015 y 2025, permitiendo obtener resultados consistentes para apoyar la toma de decisiones estratégicas en prevención y control de enfermedades cardio-cerebrovasculares.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avanzado por localidad, subred, edad, sexo y grupos CIE-10 genera información clave para priorizar intervenciones y optimizar recursos, ofreciendo al sector salud una herramienta robusta para diseñar políticas públicas más eficientes, focalizadas y oportunas.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575" y="-133350"/>
            <a:ext cx="1928788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